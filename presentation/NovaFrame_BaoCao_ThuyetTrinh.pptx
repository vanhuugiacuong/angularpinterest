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png"/><Relationship Id="rId17" Type="http://schemas.openxmlformats.org/officeDocument/2006/relationships/image" Target="../media/image-2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DỰ ÁN PHẦN MỀM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95528" y="1783080"/>
            <a:ext cx="7498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novaFrame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822960" y="2999232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6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chia sẻ hình ảnh sáng tạo — tích hợp AI và giao dịch trực tuyến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" y="416052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D6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thực hiện:  ..........................................................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D6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/ Môn học:  ..........................................................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D6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dẫn:  ..........................................................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D6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báo cáo:  ..........................................................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49640" y="1554480"/>
            <a:ext cx="2880360" cy="3794760"/>
          </a:xfrm>
          <a:prstGeom prst="roundRect">
            <a:avLst>
              <a:gd name="adj" fmla="val 3810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7" name="Image 0" descr="/home/claude/novaframe_deck/icon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0344" y="2617013"/>
            <a:ext cx="758952" cy="7589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23960" y="3503981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/ ảnh đại diện dự án novaFrame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6291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  ·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600200"/>
            <a:ext cx="9601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554480" y="1600200"/>
            <a:ext cx="96926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tổng quan về novaFrame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2286000"/>
            <a:ext cx="11185855" cy="0"/>
          </a:xfrm>
          <a:prstGeom prst="line">
            <a:avLst/>
          </a:prstGeom>
          <a:noFill/>
          <a:ln w="9525">
            <a:solidFill>
              <a:srgbClr val="E3E2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359152"/>
            <a:ext cx="9601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554480" y="2359152"/>
            <a:ext cx="96926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 &amp; công nghệ sử dụng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3044952"/>
            <a:ext cx="11185855" cy="0"/>
          </a:xfrm>
          <a:prstGeom prst="line">
            <a:avLst/>
          </a:prstGeom>
          <a:noFill/>
          <a:ln w="9525">
            <a:solidFill>
              <a:srgbClr val="E3E2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118104"/>
            <a:ext cx="9601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554480" y="3118104"/>
            <a:ext cx="96926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tính năng chính: giao diện, tài khoản, AI, kiểm duyệt nội dung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" y="3803904"/>
            <a:ext cx="11185855" cy="0"/>
          </a:xfrm>
          <a:prstGeom prst="line">
            <a:avLst/>
          </a:prstGeom>
          <a:noFill/>
          <a:ln w="9525">
            <a:solidFill>
              <a:srgbClr val="E3E2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877056"/>
            <a:ext cx="9601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554480" y="3877056"/>
            <a:ext cx="96926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dịch: mua bán trực tiếp, đấu giá, ví NovaToken, gói thành viên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2920" y="4562856"/>
            <a:ext cx="11185855" cy="0"/>
          </a:xfrm>
          <a:prstGeom prst="line">
            <a:avLst/>
          </a:prstGeom>
          <a:noFill/>
          <a:ln w="9525">
            <a:solidFill>
              <a:srgbClr val="E3E2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636008"/>
            <a:ext cx="9601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554480" y="4636008"/>
            <a:ext cx="96926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xã hội: theo dõi, nhắn tin, bộ sưu tập, thông báo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02920" y="5321808"/>
            <a:ext cx="11185855" cy="0"/>
          </a:xfrm>
          <a:prstGeom prst="line">
            <a:avLst/>
          </a:prstGeom>
          <a:noFill/>
          <a:ln w="9525">
            <a:solidFill>
              <a:srgbClr val="E3E2D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5394960"/>
            <a:ext cx="9601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554480" y="5394960"/>
            <a:ext cx="96926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novaFrame là gì?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63040"/>
            <a:ext cx="6824167" cy="304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xã hội chia sẻ hình ảnh theo phong cách Pinterest: khám phá, lưu và tổ chức ảnh theo bộ sưu tập (board).</a:t>
            </a:r>
            <a:endParaRPr lang="en-US" sz="1500" dirty="0"/>
          </a:p>
          <a:p>
            <a:pPr marL="254000" indent="-2540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AI để tạo ảnh, tách nền / ghép ảnh và tìm kiếm bằng hình ảnh.</a:t>
            </a:r>
            <a:endParaRPr lang="en-US" sz="1500" dirty="0"/>
          </a:p>
          <a:p>
            <a:pPr marL="254000" indent="-2540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sàn giao dịch thật: bán ảnh với giá cố định và đấu giá, thanh toán bằng đồng NovaToken nội bộ.</a:t>
            </a:r>
            <a:endParaRPr lang="en-US" sz="1500" dirty="0"/>
          </a:p>
          <a:p>
            <a:pPr marL="254000" indent="-2540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riêng cho thị trường Việt Nam: chuyển khoản ngân hàng qua SePay, mã QR VietQR.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11135" y="146304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7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5343" y="2371954"/>
            <a:ext cx="649224" cy="6492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85455" y="3149194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 tổng quan novaFrame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5074920"/>
            <a:ext cx="35457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502920" y="5733288"/>
            <a:ext cx="3545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nghiệp vụ backend (NestJS)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322978" y="5074920"/>
            <a:ext cx="35457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4322978" y="5733288"/>
            <a:ext cx="3545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thành viên: Free · Plus · Pro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143037" y="5074920"/>
            <a:ext cx="35457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8143037" y="5733288"/>
            <a:ext cx="3545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thức giao dịch: giá cố định &amp; đấu giá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hệ thống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706728" y="1298448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221B22"/>
          </a:solidFill>
          <a:ln/>
        </p:spPr>
      </p:sp>
      <p:sp>
        <p:nvSpPr>
          <p:cNvPr id="6" name="Text 3"/>
          <p:cNvSpPr/>
          <p:nvPr/>
        </p:nvSpPr>
        <p:spPr>
          <a:xfrm>
            <a:off x="1981048" y="1371600"/>
            <a:ext cx="8229600" cy="4626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 —  Angular 21 (SPA)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81048" y="1735897"/>
            <a:ext cx="8229600" cy="353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 + Signals  ·  NgRx  ·  Tailwind CSS v4  ·  GSAP  ·  Fabric.js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67832" y="2194560"/>
            <a:ext cx="256032" cy="201168"/>
          </a:xfrm>
          <a:prstGeom prst="downArrow">
            <a:avLst/>
          </a:prstGeom>
          <a:solidFill>
            <a:srgbClr val="E3E2DC"/>
          </a:solidFill>
          <a:ln/>
        </p:spPr>
      </p:sp>
      <p:sp>
        <p:nvSpPr>
          <p:cNvPr id="9" name="Shape 6"/>
          <p:cNvSpPr/>
          <p:nvPr/>
        </p:nvSpPr>
        <p:spPr>
          <a:xfrm>
            <a:off x="1706728" y="2450592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E60023"/>
          </a:solidFill>
          <a:ln/>
        </p:spPr>
      </p:sp>
      <p:sp>
        <p:nvSpPr>
          <p:cNvPr id="10" name="Text 7"/>
          <p:cNvSpPr/>
          <p:nvPr/>
        </p:nvSpPr>
        <p:spPr>
          <a:xfrm>
            <a:off x="1981048" y="2523744"/>
            <a:ext cx="8229600" cy="4626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 —  NestJS (Node.js / TypeScript)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981048" y="2888041"/>
            <a:ext cx="8229600" cy="353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 ·  Passport JWT  ·  Sharp  ·  Throttler  ·  REST API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67832" y="3346704"/>
            <a:ext cx="256032" cy="201168"/>
          </a:xfrm>
          <a:prstGeom prst="downArrow">
            <a:avLst/>
          </a:prstGeom>
          <a:solidFill>
            <a:srgbClr val="E3E2DC"/>
          </a:solidFill>
          <a:ln/>
        </p:spPr>
      </p:sp>
      <p:sp>
        <p:nvSpPr>
          <p:cNvPr id="13" name="Shape 10"/>
          <p:cNvSpPr/>
          <p:nvPr/>
        </p:nvSpPr>
        <p:spPr>
          <a:xfrm>
            <a:off x="1706728" y="3602736"/>
            <a:ext cx="2773680" cy="1170432"/>
          </a:xfrm>
          <a:prstGeom prst="roundRect">
            <a:avLst>
              <a:gd name="adj" fmla="val 7031"/>
            </a:avLst>
          </a:prstGeom>
          <a:solidFill>
            <a:srgbClr val="F6F6F3"/>
          </a:solidFill>
          <a:ln/>
        </p:spPr>
      </p:sp>
      <p:sp>
        <p:nvSpPr>
          <p:cNvPr id="14" name="Text 11"/>
          <p:cNvSpPr/>
          <p:nvPr/>
        </p:nvSpPr>
        <p:spPr>
          <a:xfrm>
            <a:off x="1889608" y="3730752"/>
            <a:ext cx="2407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Prisma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889608" y="4169664"/>
            <a:ext cx="2407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quan hệ &amp; vector embedding (pgvector)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09008" y="3602736"/>
            <a:ext cx="2773680" cy="1170432"/>
          </a:xfrm>
          <a:prstGeom prst="roundRect">
            <a:avLst>
              <a:gd name="adj" fmla="val 7031"/>
            </a:avLst>
          </a:prstGeom>
          <a:solidFill>
            <a:srgbClr val="F6F6F3"/>
          </a:solidFill>
          <a:ln/>
        </p:spPr>
      </p:sp>
      <p:sp>
        <p:nvSpPr>
          <p:cNvPr id="17" name="Text 14"/>
          <p:cNvSpPr/>
          <p:nvPr/>
        </p:nvSpPr>
        <p:spPr>
          <a:xfrm>
            <a:off x="4891888" y="3730752"/>
            <a:ext cx="2407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891888" y="4169664"/>
            <a:ext cx="2407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 ·  Storage  ·  Realtime Broadcast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711288" y="3602736"/>
            <a:ext cx="2773680" cy="1170432"/>
          </a:xfrm>
          <a:prstGeom prst="roundRect">
            <a:avLst>
              <a:gd name="adj" fmla="val 7031"/>
            </a:avLst>
          </a:prstGeom>
          <a:solidFill>
            <a:srgbClr val="7E238B"/>
          </a:solidFill>
          <a:ln/>
        </p:spPr>
      </p:sp>
      <p:sp>
        <p:nvSpPr>
          <p:cNvPr id="20" name="Text 17"/>
          <p:cNvSpPr/>
          <p:nvPr/>
        </p:nvSpPr>
        <p:spPr>
          <a:xfrm>
            <a:off x="7894168" y="3730752"/>
            <a:ext cx="2407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Service (AI)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894168" y="4169664"/>
            <a:ext cx="2407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6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PyTorch · CLIP ViT-B/32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706728" y="4974336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30" kern="0" dirty="0">
                <a:solidFill>
                  <a:srgbClr val="6E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BÊN THỨ BA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917040" y="5285232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2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917040" y="5285232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Pollinations AI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047592" y="5285232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2D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47592" y="5285232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78144" y="5285232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2D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78144" y="5285232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VietQR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308696" y="5285232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2D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08696" y="5285232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t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Ngăn xếp công nghệ (Tech Stack)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355793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2DC"/>
            </a:solidFill>
            <a:prstDash val="solid"/>
          </a:ln>
          <a:effectLst>
            <a:outerShdw sx="100000" sy="100000" kx="0" ky="0" algn="bl" rotWithShape="0" blurRad="50800" dist="25400" dir="5400000">
              <a:srgbClr val="3A3A3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22376" y="1618488"/>
            <a:ext cx="457200" cy="457200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7" name="Image 1" descr="/home/claude/novaframe_deck/icons/lay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728216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600200"/>
            <a:ext cx="25520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77240" y="2221992"/>
            <a:ext cx="3055010" cy="1857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 (Standalone + Signals)</a:t>
            </a:r>
            <a:endParaRPr lang="en-US" sz="11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NgRx (Store · Effects · Signals)</a:t>
            </a:r>
            <a:endParaRPr lang="en-US" sz="11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1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</a:t>
            </a:r>
            <a:endParaRPr lang="en-US" sz="11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Fabric.js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16882" y="1417320"/>
            <a:ext cx="355793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2DC"/>
            </a:solidFill>
            <a:prstDash val="solid"/>
          </a:ln>
          <a:effectLst>
            <a:outerShdw sx="100000" sy="100000" kx="0" ky="0" algn="bl" rotWithShape="0" blurRad="50800" dist="25400" dir="5400000">
              <a:srgbClr val="3A3A3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36338" y="1618488"/>
            <a:ext cx="457200" cy="457200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12" name="Image 2" descr="/home/claude/novaframe_deck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066" y="172821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39842" y="1600200"/>
            <a:ext cx="25520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591202" y="2221992"/>
            <a:ext cx="3055010" cy="1395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11 (Node.js / TypeScript)</a:t>
            </a:r>
            <a:endParaRPr lang="en-US" sz="11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7 + PostgreSQL</a:t>
            </a:r>
            <a:endParaRPr lang="en-US" sz="11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JWT</a:t>
            </a:r>
            <a:endParaRPr lang="en-US" sz="11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130845" y="1417320"/>
            <a:ext cx="355793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2DC"/>
            </a:solidFill>
            <a:prstDash val="solid"/>
          </a:ln>
          <a:effectLst>
            <a:outerShdw sx="100000" sy="100000" kx="0" ky="0" algn="bl" rotWithShape="0" blurRad="50800" dist="25400" dir="5400000">
              <a:srgbClr val="3A3A3A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50301" y="1618488"/>
            <a:ext cx="457200" cy="457200"/>
          </a:xfrm>
          <a:prstGeom prst="ellipse">
            <a:avLst/>
          </a:prstGeom>
          <a:solidFill>
            <a:srgbClr val="7E238B"/>
          </a:solidFill>
          <a:ln/>
        </p:spPr>
      </p:sp>
      <p:pic>
        <p:nvPicPr>
          <p:cNvPr id="17" name="Image 3" descr="/home/claude/novaframe_deck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029" y="172821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53805" y="1600200"/>
            <a:ext cx="25520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Machine Learning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405165" y="2221992"/>
            <a:ext cx="3055010" cy="1588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 (HuggingFace + PyTorch)</a:t>
            </a:r>
            <a:endParaRPr lang="en-US" sz="11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vụ Python FastAPI riêng</a:t>
            </a:r>
            <a:endParaRPr lang="en-US" sz="11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MediaPipe</a:t>
            </a:r>
            <a:endParaRPr lang="en-US" sz="11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@imgly/background-removal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02920" y="4023360"/>
            <a:ext cx="54649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2DC"/>
            </a:solidFill>
            <a:prstDash val="solid"/>
          </a:ln>
          <a:effectLst>
            <a:outerShdw sx="100000" sy="100000" kx="0" ky="0" algn="bl" rotWithShape="0" blurRad="50800" dist="25400" dir="5400000">
              <a:srgbClr val="3A3A3A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22376" y="4224528"/>
            <a:ext cx="457200" cy="457200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22" name="Image 4" descr="/home/claude/novaframe_deck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33425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4206240"/>
            <a:ext cx="445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 &amp; Hạ tầng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77240" y="4828032"/>
            <a:ext cx="4961992" cy="1126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(Auth · Storage · Realtime)</a:t>
            </a:r>
            <a:endParaRPr lang="en-US" sz="11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1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Railway (triển khai)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223864" y="4023360"/>
            <a:ext cx="54649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2DC"/>
            </a:solidFill>
            <a:prstDash val="solid"/>
          </a:ln>
          <a:effectLst>
            <a:outerShdw sx="100000" sy="100000" kx="0" ky="0" algn="bl" rotWithShape="0" blurRad="50800" dist="25400" dir="5400000">
              <a:srgbClr val="3A3A3A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43320" y="4224528"/>
            <a:ext cx="457200" cy="457200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27" name="Image 5" descr="/home/claude/novaframe_deck/icons/c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048" y="4334256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46824" y="4206240"/>
            <a:ext cx="445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 &amp; Đối tác Việt Nam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6498184" y="4828032"/>
            <a:ext cx="4961992" cy="1126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SePay (đối soát chuyển khoản ngân hàng)</a:t>
            </a:r>
            <a:endParaRPr lang="en-US" sz="11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VietQR (mã QR động)</a:t>
            </a:r>
            <a:endParaRPr lang="en-US" sz="11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Pollinations.ai (AI tạo ảnh)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 (Landing Page)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6824167" cy="2007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7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novaFrame cho khách chưa đăng nhập, trưng bày tác phẩm nổi bật theo chủ đề (Anime, K-Pop, Meme, Vẽ tay...).</a:t>
            </a:r>
            <a:endParaRPr lang="en-US" sz="1375" dirty="0"/>
          </a:p>
          <a:p>
            <a:pPr marL="254000" indent="-254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7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ứng cuộn trang theo từng "cảnh" (scroll storytelling), chuyển động mượt khi kéo xuống.</a:t>
            </a:r>
            <a:endParaRPr lang="en-US" sz="1375" dirty="0"/>
          </a:p>
          <a:p>
            <a:pPr marL="254000" indent="-254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7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"Đăng nhập / Tham gia" sẽ mở hộp thoại xác thực ngay trên trang, không chuyển trang.</a:t>
            </a:r>
            <a:endParaRPr lang="en-US" sz="1375" dirty="0"/>
          </a:p>
        </p:txBody>
      </p:sp>
      <p:sp>
        <p:nvSpPr>
          <p:cNvPr id="6" name="Shape 3"/>
          <p:cNvSpPr/>
          <p:nvPr/>
        </p:nvSpPr>
        <p:spPr>
          <a:xfrm>
            <a:off x="502920" y="3571494"/>
            <a:ext cx="6824167" cy="2751125"/>
          </a:xfrm>
          <a:prstGeom prst="roundRect">
            <a:avLst>
              <a:gd name="adj" fmla="val 3324"/>
            </a:avLst>
          </a:prstGeom>
          <a:solidFill>
            <a:srgbClr val="F6F6F3"/>
          </a:solidFill>
          <a:ln/>
          <a:effectLst>
            <a:outerShdw sx="100000" sy="100000" kx="0" ky="0" algn="bl" rotWithShape="0" blurRad="63500" dist="25400" dir="5400000">
              <a:srgbClr val="3A3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" y="3717798"/>
            <a:ext cx="63121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" y="3992118"/>
            <a:ext cx="6312103" cy="24676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9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Angular 21</a:t>
            </a:r>
            <a:endParaRPr lang="en-US" sz="119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14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độc lập (standalone) + Signals dựng giao diện và trạng thái hiển thị.</a:t>
            </a:r>
            <a:endParaRPr lang="en-US" sz="119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9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GSAP</a:t>
            </a:r>
            <a:endParaRPr lang="en-US" sz="119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14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hiệu ứng cuộn trang (ScrollScenes tự viết) và chuyển động con trỏ.</a:t>
            </a:r>
            <a:endParaRPr lang="en-US" sz="119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9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Tailwind CSS v4</a:t>
            </a:r>
            <a:endParaRPr lang="en-US" sz="119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14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kiểu giao diện theo hệ thống thiết kế riêng của dự án.</a:t>
            </a:r>
            <a:endParaRPr lang="en-US" sz="1190" dirty="0"/>
          </a:p>
        </p:txBody>
      </p:sp>
      <p:sp>
        <p:nvSpPr>
          <p:cNvPr id="9" name="Shape 6"/>
          <p:cNvSpPr/>
          <p:nvPr/>
        </p:nvSpPr>
        <p:spPr>
          <a:xfrm>
            <a:off x="7711135" y="1417320"/>
            <a:ext cx="3977640" cy="4905299"/>
          </a:xfrm>
          <a:prstGeom prst="roundRect">
            <a:avLst>
              <a:gd name="adj" fmla="val 275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0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2892714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85455" y="379797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hình: Trang chủ (Landing Page)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&amp; Xác thực tài khoản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864608" y="1417320"/>
            <a:ext cx="6824167" cy="1944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duy nhất bằng tài khoản Google (OAuth) — không cần tạo mật khẩu riêng.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đăng nhập đầu tiên tự động tạo hồ sơ người dùng trong hệ thống.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yêu cầu tới máy chủ đều được kiểm tra quyền truy cập bằng token đăng nhập.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864608" y="3489960"/>
            <a:ext cx="6824167" cy="2800502"/>
          </a:xfrm>
          <a:prstGeom prst="roundRect">
            <a:avLst>
              <a:gd name="adj" fmla="val 3265"/>
            </a:avLst>
          </a:prstGeom>
          <a:solidFill>
            <a:srgbClr val="F6F6F3"/>
          </a:solidFill>
          <a:ln/>
          <a:effectLst>
            <a:outerShdw sx="100000" sy="100000" kx="0" ky="0" algn="bl" rotWithShape="0" blurRad="63500" dist="25400" dir="5400000">
              <a:srgbClr val="3A3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120640" y="3636264"/>
            <a:ext cx="63121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20640" y="3910584"/>
            <a:ext cx="6312103" cy="2517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7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Supabase Auth (Google OAuth)</a:t>
            </a:r>
            <a:endParaRPr lang="en-US" sz="117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2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đăng nhập và cấp token phía máy chủ xác thực.</a:t>
            </a:r>
            <a:endParaRPr lang="en-US" sz="117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7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NestJS Guard riêng</a:t>
            </a:r>
            <a:endParaRPr lang="en-US" sz="117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2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minh token trên mọi API, có bản tuỳ chọn cho khách chưa đăng nhập.</a:t>
            </a:r>
            <a:endParaRPr lang="en-US" sz="117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7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Bộ nhớ đệm xác thực (TTL 30 giây)</a:t>
            </a:r>
            <a:endParaRPr lang="en-US" sz="117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2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 các yêu cầu trùng lặp, giảm tải và tăng tốc độ phản hồi.</a:t>
            </a:r>
            <a:endParaRPr lang="en-US" sz="117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7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PostgreSQL (Prisma)</a:t>
            </a:r>
            <a:endParaRPr lang="en-US" sz="117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2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và lưu hồ sơ người dùng qua API /api/users/sync.</a:t>
            </a:r>
            <a:endParaRPr lang="en-US" sz="117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3977640" cy="4873142"/>
          </a:xfrm>
          <a:prstGeom prst="roundRect">
            <a:avLst>
              <a:gd name="adj" fmla="val 275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0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880494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78575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hình: Màn hình đăng nhập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giao diện (UI/UX)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6824167" cy="1718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thiết kế riêng: màu sắc, kiểu chữ, bo góc và khoảng cách thống nhất toàn ứng dụng.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cục dạng lưới masonry (so le) cho danh sách ảnh — đặc trưng của nền tảng chia sẻ hình ảnh.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chuyển đổi giao diện Sáng / Tối theo lựa chọn người dùng.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02920" y="3263646"/>
            <a:ext cx="6824167" cy="2988259"/>
          </a:xfrm>
          <a:prstGeom prst="roundRect">
            <a:avLst>
              <a:gd name="adj" fmla="val 3060"/>
            </a:avLst>
          </a:prstGeom>
          <a:solidFill>
            <a:srgbClr val="F6F6F3"/>
          </a:solidFill>
          <a:ln/>
          <a:effectLst>
            <a:outerShdw sx="100000" sy="100000" kx="0" ky="0" algn="bl" rotWithShape="0" blurRad="63500" dist="25400" dir="5400000">
              <a:srgbClr val="3A3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" y="3409950"/>
            <a:ext cx="63121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" y="3684270"/>
            <a:ext cx="6312103" cy="27047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7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Angular 21 + Signals</a:t>
            </a:r>
            <a:endParaRPr lang="en-US" sz="117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2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độc lập (standalone), cập nhật giao diện theo trạng thái phản ứng.</a:t>
            </a:r>
            <a:endParaRPr lang="en-US" sz="117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7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Tailwind CSS v4</a:t>
            </a:r>
            <a:endParaRPr lang="en-US" sz="117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2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class tiện ích, dựng nhanh giao diện nhất quán.</a:t>
            </a:r>
            <a:endParaRPr lang="en-US" sz="117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7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Bộ token thiết kế riêng</a:t>
            </a:r>
            <a:endParaRPr lang="en-US" sz="117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2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từ giao diện Pinterest rồi điều chỉnh lại cho novaFrame.</a:t>
            </a:r>
            <a:endParaRPr lang="en-US" sz="117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7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ThemeService</a:t>
            </a:r>
            <a:endParaRPr lang="en-US" sz="117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2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và áp dụng giao diện Sáng / Tối trên toàn ứng dụng.</a:t>
            </a:r>
            <a:endParaRPr lang="en-US" sz="1170" dirty="0"/>
          </a:p>
        </p:txBody>
      </p:sp>
      <p:sp>
        <p:nvSpPr>
          <p:cNvPr id="9" name="Shape 6"/>
          <p:cNvSpPr/>
          <p:nvPr/>
        </p:nvSpPr>
        <p:spPr>
          <a:xfrm>
            <a:off x="7711135" y="1417320"/>
            <a:ext cx="3977640" cy="4834585"/>
          </a:xfrm>
          <a:prstGeom prst="roundRect">
            <a:avLst>
              <a:gd name="adj" fmla="val 275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0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2865842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85455" y="377109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hình: Giao diện Sáng &amp; Tối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tải hình ảnh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864608" y="1417320"/>
            <a:ext cx="6824167" cy="21343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ảnh lên kèm tiêu đề, mô tả và có thể chọn gắn giá bán ngay khi đăng.</a:t>
            </a:r>
            <a:endParaRPr lang="en-US" sz="1425" dirty="0"/>
          </a:p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được xử lý và lưu thành 2 bản: bản gốc (riêng tư) và bản xem trước (công khai).</a:t>
            </a:r>
            <a:endParaRPr lang="en-US" sz="1425" dirty="0"/>
          </a:p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ảnh đều phải vượt qua bước kiểm duyệt nội dung trước khi được đăng.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4864608" y="3734562"/>
            <a:ext cx="6824167" cy="2485339"/>
          </a:xfrm>
          <a:prstGeom prst="roundRect">
            <a:avLst>
              <a:gd name="adj" fmla="val 3679"/>
            </a:avLst>
          </a:prstGeom>
          <a:solidFill>
            <a:srgbClr val="F6F6F3"/>
          </a:solidFill>
          <a:ln/>
          <a:effectLst>
            <a:outerShdw sx="100000" sy="100000" kx="0" ky="0" algn="bl" rotWithShape="0" blurRad="63500" dist="25400" dir="5400000">
              <a:srgbClr val="3A3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120640" y="3880866"/>
            <a:ext cx="63121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20640" y="4155186"/>
            <a:ext cx="6312103" cy="22018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NestJS + Multer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file tải lên, giới hạn dung lượng 10MB.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Sharp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và chuyển định dạng ảnh ngay phía máy chủ.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Supabase Storage (2 bucket)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riêng tư lưu ảnh gốc, bucket công khai lưu ảnh xem trước.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3977640" cy="4802581"/>
          </a:xfrm>
          <a:prstGeom prst="roundRect">
            <a:avLst>
              <a:gd name="adj" fmla="val 275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0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853681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758937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hình: Màn hình đăng ảnh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7E238B"/>
          </a:solidFill>
          <a:ln/>
        </p:spPr>
      </p:sp>
      <p:pic>
        <p:nvPicPr>
          <p:cNvPr id="3" name="Image 0" descr="/home/claude/novaframe_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duyệt nội dung 18+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6824167" cy="18813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phát hiện và chặn ảnh khoả thân, khiêu dâm hoặc bạo lực trước khi cho đăng.</a:t>
            </a:r>
            <a:endParaRPr lang="en-US" sz="1325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cho cả ảnh người dùng tự tải lên lẫn ảnh do AI tạo ra — không có ngoại lệ.</a:t>
            </a:r>
            <a:endParaRPr lang="en-US" sz="1325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3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dịch vụ kiểm duyệt gặp sự cố, hệ thống mặc định từ chối ảnh thay vì cho qua (an toàn trước).</a:t>
            </a:r>
            <a:endParaRPr lang="en-US" sz="1325" dirty="0"/>
          </a:p>
        </p:txBody>
      </p:sp>
      <p:sp>
        <p:nvSpPr>
          <p:cNvPr id="6" name="Shape 3"/>
          <p:cNvSpPr/>
          <p:nvPr/>
        </p:nvSpPr>
        <p:spPr>
          <a:xfrm>
            <a:off x="502920" y="3408426"/>
            <a:ext cx="6824167" cy="2907284"/>
          </a:xfrm>
          <a:prstGeom prst="roundRect">
            <a:avLst>
              <a:gd name="adj" fmla="val 3145"/>
            </a:avLst>
          </a:prstGeom>
          <a:solidFill>
            <a:srgbClr val="F6F6F3"/>
          </a:solidFill>
          <a:ln/>
          <a:effectLst>
            <a:outerShdw sx="100000" sy="100000" kx="0" ky="0" algn="bl" rotWithShape="0" blurRad="63500" dist="25400" dir="5400000">
              <a:srgbClr val="3A3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" y="3554730"/>
            <a:ext cx="63121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7E2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" y="3829050"/>
            <a:ext cx="6312103" cy="2623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7E2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Mô hình CLIP (clip-vit-base-patch32)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zero-shot: so khớp ảnh với các mô tả "an toàn" / "không an toàn" định sẵn.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7E2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Dịch vụ Python FastAPI riêng (clip-service)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khỏi máy chủ chính, chuyên trách embedding &amp; kiểm duyệt.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7E2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PyTorch + HuggingFace Transformers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suy luận mô hình CLIP cục bộ.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7E2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Ngưỡng rủi ro có thể tuỳ chỉnh (0.62 mặc định)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 bằng giữa chặn nhầm và bỏ sót.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11135" y="1417320"/>
            <a:ext cx="3977640" cy="4898390"/>
          </a:xfrm>
          <a:prstGeom prst="roundRect">
            <a:avLst>
              <a:gd name="adj" fmla="val 275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0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2890088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85455" y="3795344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minh hoạ: Quy trình kiểm duyệt ảnh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7E238B"/>
          </a:solidFill>
          <a:ln/>
        </p:spPr>
      </p:sp>
      <p:pic>
        <p:nvPicPr>
          <p:cNvPr id="3" name="Image 0" descr="/home/claude/novaframe_deck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tạo ảnh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864608" y="1417320"/>
            <a:ext cx="6824167" cy="21343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ảnh mới từ mô tả văn bản (text-to-image), hoặc từ một ảnh tham chiếu có sẵn (image-to-image).</a:t>
            </a:r>
            <a:endParaRPr lang="en-US" sz="1425" dirty="0"/>
          </a:p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lượt tạo ảnh mỗi ngày giới hạn theo gói: Free 3 lượt, Plus 10 lượt, Pro không giới hạn.</a:t>
            </a:r>
            <a:endParaRPr lang="en-US" sz="1425" dirty="0"/>
          </a:p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do AI tạo ra vẫn phải qua kiểm duyệt nội dung 18+ như ảnh tải lên thông thường.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4864608" y="3734562"/>
            <a:ext cx="6824167" cy="2485339"/>
          </a:xfrm>
          <a:prstGeom prst="roundRect">
            <a:avLst>
              <a:gd name="adj" fmla="val 3679"/>
            </a:avLst>
          </a:prstGeom>
          <a:solidFill>
            <a:srgbClr val="F6F6F3"/>
          </a:solidFill>
          <a:ln/>
          <a:effectLst>
            <a:outerShdw sx="100000" sy="100000" kx="0" ky="0" algn="bl" rotWithShape="0" blurRad="63500" dist="25400" dir="5400000">
              <a:srgbClr val="3A3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120640" y="3880866"/>
            <a:ext cx="63121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7E2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20640" y="4155186"/>
            <a:ext cx="6312103" cy="22018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7E2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Pollinations.ai API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cung cấp mô hình sinh ảnh text-to-image / image-to-image.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7E2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Supabase Storage (bucket tạm)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ảnh tham chiếu và ảnh kết quả trước khi lưu chính thức.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7E2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Bảng AiUsage (PostgreSQL)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và giới hạn số lượt dùng AI mỗi ngày theo từng người.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3977640" cy="4802581"/>
          </a:xfrm>
          <a:prstGeom prst="roundRect">
            <a:avLst>
              <a:gd name="adj" fmla="val 275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0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853681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758937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hình: Công cụ tạo ảnh AI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7E238B"/>
          </a:solidFill>
          <a:ln/>
        </p:spPr>
      </p:sp>
      <p:pic>
        <p:nvPicPr>
          <p:cNvPr id="3" name="Image 0" descr="/home/claude/novaframe_deck/icons/sciss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ảnh &amp; Tách chủ thể bằng AI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6824167" cy="21343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Collage ghép nhiều ảnh thành một tác phẩm mới, sắp xếp theo từng lớp (layer).</a:t>
            </a:r>
            <a:endParaRPr lang="en-US" sz="1425" dirty="0"/>
          </a:p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tách nền: chỉ cần chọn ảnh, AI tự nhận diện và cắt rời chủ thể khỏi nền.</a:t>
            </a:r>
            <a:endParaRPr lang="en-US" sz="1425" dirty="0"/>
          </a:p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thủ công: chạm đúng vị trí chủ thể trên ảnh, AI tự khoanh vùng và tách ra.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502920" y="3734562"/>
            <a:ext cx="6824167" cy="2485339"/>
          </a:xfrm>
          <a:prstGeom prst="roundRect">
            <a:avLst>
              <a:gd name="adj" fmla="val 3679"/>
            </a:avLst>
          </a:prstGeom>
          <a:solidFill>
            <a:srgbClr val="F6F6F3"/>
          </a:solidFill>
          <a:ln/>
          <a:effectLst>
            <a:outerShdw sx="100000" sy="100000" kx="0" ky="0" algn="bl" rotWithShape="0" blurRad="63500" dist="25400" dir="5400000">
              <a:srgbClr val="3A3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" y="3880866"/>
            <a:ext cx="63121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7E2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" y="4155186"/>
            <a:ext cx="6312103" cy="22018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7E2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@imgly/background-removal (mô hình ONNX)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nền tự động, chạy hoàn toàn trên trình duyệt người dùng.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7E2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Google MediaPipe — Interactive Segmenter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chủ thể theo điểm chạm, mô hình chạy cục bộ qua WebAssembly.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7E2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Fabric.js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chỉnh sửa nhiều lớp ảnh: di chuyển, xoay, cắt, xếp lớp.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7711135" y="1417320"/>
            <a:ext cx="3977640" cy="4802581"/>
          </a:xfrm>
          <a:prstGeom prst="roundRect">
            <a:avLst>
              <a:gd name="adj" fmla="val 275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0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2853681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85455" y="3758937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hình: Công cụ ghép ảnh Collage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7E238B"/>
          </a:solidFill>
          <a:ln/>
        </p:spPr>
      </p:sp>
      <p:pic>
        <p:nvPicPr>
          <p:cNvPr id="3" name="Image 0" descr="/home/claude/novaframe_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 bằng hình ảnh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864608" y="1417320"/>
            <a:ext cx="6824167" cy="21343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lên một tấm ảnh bất kỳ để tìm các tác phẩm có nội dung tương tự trong novaFrame.</a:t>
            </a:r>
            <a:endParaRPr lang="en-US" sz="1425" dirty="0"/>
          </a:p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riêng một vùng nhỏ trên ảnh đang xem để tìm theo đúng chi tiết đó (giống Google Lens).</a:t>
            </a:r>
            <a:endParaRPr lang="en-US" sz="1425" dirty="0"/>
          </a:p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gợi ý ảnh "tương tự" và "liên quan" bên dưới mỗi tác phẩm.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4864608" y="3734562"/>
            <a:ext cx="6824167" cy="2485339"/>
          </a:xfrm>
          <a:prstGeom prst="roundRect">
            <a:avLst>
              <a:gd name="adj" fmla="val 3679"/>
            </a:avLst>
          </a:prstGeom>
          <a:solidFill>
            <a:srgbClr val="F6F6F3"/>
          </a:solidFill>
          <a:ln/>
          <a:effectLst>
            <a:outerShdw sx="100000" sy="100000" kx="0" ky="0" algn="bl" rotWithShape="0" blurRad="63500" dist="25400" dir="5400000">
              <a:srgbClr val="3A3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120640" y="3880866"/>
            <a:ext cx="63121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7E2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20640" y="4155186"/>
            <a:ext cx="6312103" cy="22018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7E2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CLIP embedding 512 chiều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hoá mỗi ảnh thành một vector đặc trưng để so sánh mức độ giống nhau.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7E2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PostgreSQL (pgvector)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và tìm kiếm vector theo độ tương đồng cosine.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7E2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Ngưỡng tương đồng tối thiểu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cấu hình, loại bỏ kết quả không thực sự liên quan.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3977640" cy="4802581"/>
          </a:xfrm>
          <a:prstGeom prst="roundRect">
            <a:avLst>
              <a:gd name="adj" fmla="val 275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0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853681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758937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hình: Tìm kiếm bằng hình ảnh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dro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vệ bản quyền bằng Watermark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6824167" cy="2071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Free: tự động đóng dấu "novaFrame · tên người đăng" lên mọi ảnh, không thể tắt.</a:t>
            </a:r>
            <a:endParaRPr lang="en-US" sz="1400" dirty="0"/>
          </a:p>
          <a:p>
            <a:pPr marL="254000" indent="-254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Plus / Pro: tự tạo watermark riêng bằng chữ hoặc logo, tuỳ chỉnh vị trí, độ mờ, xoay, lặp lại.</a:t>
            </a:r>
            <a:endParaRPr lang="en-US" sz="1400" dirty="0"/>
          </a:p>
          <a:p>
            <a:pPr marL="254000" indent="-254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đang rao bán hoặc đấu giá luôn hiện bản có watermark cho người chưa mua; chỉ chủ sở hữu và người đã mua mới thấy ảnh gốc.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3653028"/>
            <a:ext cx="6824167" cy="2621585"/>
          </a:xfrm>
          <a:prstGeom prst="roundRect">
            <a:avLst>
              <a:gd name="adj" fmla="val 3488"/>
            </a:avLst>
          </a:prstGeom>
          <a:solidFill>
            <a:srgbClr val="F6F6F3"/>
          </a:solidFill>
          <a:ln/>
          <a:effectLst>
            <a:outerShdw sx="100000" sy="100000" kx="0" ky="0" algn="bl" rotWithShape="0" blurRad="63500" dist="25400" dir="5400000">
              <a:srgbClr val="3A3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" y="3799332"/>
            <a:ext cx="63121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" y="4073652"/>
            <a:ext cx="6312103" cy="2338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1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Sharp + SVG động</a:t>
            </a:r>
            <a:endParaRPr lang="en-US" sz="121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16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chữ hoặc logo lên ảnh đúng vị trí, góc xoay, độ mờ đã cấu hình.</a:t>
            </a:r>
            <a:endParaRPr lang="en-US" sz="121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1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Bảng WatermarkPreset (PostgreSQL)</a:t>
            </a:r>
            <a:endParaRPr lang="en-US" sz="121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16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các mẫu watermark cá nhân theo từng người dùng.</a:t>
            </a:r>
            <a:endParaRPr lang="en-US" sz="121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1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Cơ chế thay ảnh theo quyền xem</a:t>
            </a:r>
            <a:endParaRPr lang="en-US" sz="121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16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thống nhất ở mọi nơi hiển thị ảnh: bảng tin, bộ sưu tập, thông báo...</a:t>
            </a:r>
            <a:endParaRPr lang="en-US" sz="1210" dirty="0"/>
          </a:p>
        </p:txBody>
      </p:sp>
      <p:sp>
        <p:nvSpPr>
          <p:cNvPr id="9" name="Shape 6"/>
          <p:cNvSpPr/>
          <p:nvPr/>
        </p:nvSpPr>
        <p:spPr>
          <a:xfrm>
            <a:off x="7711135" y="1417320"/>
            <a:ext cx="3977640" cy="4857293"/>
          </a:xfrm>
          <a:prstGeom prst="roundRect">
            <a:avLst>
              <a:gd name="adj" fmla="val 275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0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2874471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85455" y="3779727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hình: Ảnh có Watermark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b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dịch mua bán trực tiếp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864608" y="1417320"/>
            <a:ext cx="6824167" cy="21343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bán gắn giá cố định (VNĐ) cho tác phẩm của mình ngay khi đăng ảnh.</a:t>
            </a:r>
            <a:endParaRPr lang="en-US" sz="1425" dirty="0"/>
          </a:p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mua thanh toán bằng đồng NovaToken nội bộ, giao dịch xử lý tức thì.</a:t>
            </a:r>
            <a:endParaRPr lang="en-US" sz="1425" dirty="0"/>
          </a:p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tài khoản gói Plus / Pro mới được mua và bán; người bán khai tài khoản ngân hàng nhận tiền để rút qua VietQR.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4864608" y="3734562"/>
            <a:ext cx="6824167" cy="2485339"/>
          </a:xfrm>
          <a:prstGeom prst="roundRect">
            <a:avLst>
              <a:gd name="adj" fmla="val 3679"/>
            </a:avLst>
          </a:prstGeom>
          <a:solidFill>
            <a:srgbClr val="F6F6F3"/>
          </a:solidFill>
          <a:ln/>
          <a:effectLst>
            <a:outerShdw sx="100000" sy="100000" kx="0" ky="0" algn="bl" rotWithShape="0" blurRad="63500" dist="25400" dir="5400000">
              <a:srgbClr val="3A3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120640" y="3880866"/>
            <a:ext cx="63121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20640" y="4155186"/>
            <a:ext cx="6312103" cy="22018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NovaToken (đồng tiền nội bộ)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đổi 1.000đ = 1 NovaToken, dùng thay tiền mặt trong giao dịch.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Giao dịch nguyên tử (Prisma Serializable)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trừ/cộng số dư và ghi sổ cái cùng lúc, không lệch dù chạy đồng thời.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Danh sách 20 ngân hàng hợp lệ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tài khoản nhận tiền của người bán trước khi cho rút.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3977640" cy="4802581"/>
          </a:xfrm>
          <a:prstGeom prst="roundRect">
            <a:avLst>
              <a:gd name="adj" fmla="val 275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0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853681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758937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hình: Trang mua bán tác phẩm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ga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Đấu giá tác phẩm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6824167" cy="2007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7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riêng cho gói Pro: đăng tác phẩm đấu giá với giá khởi điểm, bước giá tối thiểu và thời gian kết thúc.</a:t>
            </a:r>
            <a:endParaRPr lang="en-US" sz="1375" dirty="0"/>
          </a:p>
          <a:p>
            <a:pPr marL="254000" indent="-254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7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đặt giá, NovaToken tương ứng được tạm giữ; nếu bị trả cao hơn, tiền hoàn lại ngay lập tức.</a:t>
            </a:r>
            <a:endParaRPr lang="en-US" sz="1375" dirty="0"/>
          </a:p>
          <a:p>
            <a:pPr marL="254000" indent="-254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7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thúc phiên: người thắng thanh toán, người bán nhận tiền, các khoản giữ khác tự động hoàn lại.</a:t>
            </a:r>
            <a:endParaRPr lang="en-US" sz="1375" dirty="0"/>
          </a:p>
        </p:txBody>
      </p:sp>
      <p:sp>
        <p:nvSpPr>
          <p:cNvPr id="6" name="Shape 3"/>
          <p:cNvSpPr/>
          <p:nvPr/>
        </p:nvSpPr>
        <p:spPr>
          <a:xfrm>
            <a:off x="502920" y="3571494"/>
            <a:ext cx="6824167" cy="2751125"/>
          </a:xfrm>
          <a:prstGeom prst="roundRect">
            <a:avLst>
              <a:gd name="adj" fmla="val 3324"/>
            </a:avLst>
          </a:prstGeom>
          <a:solidFill>
            <a:srgbClr val="F6F6F3"/>
          </a:solidFill>
          <a:ln/>
          <a:effectLst>
            <a:outerShdw sx="100000" sy="100000" kx="0" ky="0" algn="bl" rotWithShape="0" blurRad="63500" dist="25400" dir="5400000">
              <a:srgbClr val="3A3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" y="3717798"/>
            <a:ext cx="63121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" y="3992118"/>
            <a:ext cx="6312103" cy="24676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9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Mô hình trạng thái đấu giá</a:t>
            </a:r>
            <a:endParaRPr lang="en-US" sz="119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14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Nháp → Lên lịch → Đang diễn ra → Kết thúc / Đã huỷ, kiểm soát chặt trên máy chủ.</a:t>
            </a:r>
            <a:endParaRPr lang="en-US" sz="119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9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Mã yêu cầu chống trùng (idempotency key)</a:t>
            </a:r>
            <a:endParaRPr lang="en-US" sz="119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14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một lượt bấm đặt giá không bị tính hai lần.</a:t>
            </a:r>
            <a:endParaRPr lang="en-US" sz="119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19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Giao dịch mức Serializable</a:t>
            </a:r>
            <a:endParaRPr lang="en-US" sz="119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14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giữ tiền, hoàn tiền và chốt thắng cuộc an toàn khi nhiều người đấu giá cùng lúc.</a:t>
            </a:r>
            <a:endParaRPr lang="en-US" sz="1190" dirty="0"/>
          </a:p>
        </p:txBody>
      </p:sp>
      <p:sp>
        <p:nvSpPr>
          <p:cNvPr id="9" name="Shape 6"/>
          <p:cNvSpPr/>
          <p:nvPr/>
        </p:nvSpPr>
        <p:spPr>
          <a:xfrm>
            <a:off x="7711135" y="1417320"/>
            <a:ext cx="3977640" cy="4905299"/>
          </a:xfrm>
          <a:prstGeom prst="roundRect">
            <a:avLst>
              <a:gd name="adj" fmla="val 275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0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2892714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85455" y="379797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hình: Phiên đấu giá trực tiếp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NovaToken &amp; Thanh toán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864608" y="1417320"/>
            <a:ext cx="6824167" cy="2071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NovaToken theo các gói có sẵn (10 / 25 / 50 / 100 / 250 / 500) bằng chuyển khoản ngân hàng.</a:t>
            </a:r>
            <a:endParaRPr lang="en-US" sz="1400" dirty="0"/>
          </a:p>
          <a:p>
            <a:pPr marL="254000" indent="-254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động đối chiếu giao dịch chuyển khoản và cộng tiền vào ví trong vài giây.</a:t>
            </a:r>
            <a:endParaRPr lang="en-US" sz="1400" dirty="0"/>
          </a:p>
          <a:p>
            <a:pPr marL="254000" indent="-254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ví hiển thị đầy đủ: nạp tiền, mua/bán, đặt giá, hoàn tiền — minh bạch từng dòng.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864608" y="3653028"/>
            <a:ext cx="6824167" cy="2621585"/>
          </a:xfrm>
          <a:prstGeom prst="roundRect">
            <a:avLst>
              <a:gd name="adj" fmla="val 3488"/>
            </a:avLst>
          </a:prstGeom>
          <a:solidFill>
            <a:srgbClr val="F6F6F3"/>
          </a:solidFill>
          <a:ln/>
          <a:effectLst>
            <a:outerShdw sx="100000" sy="100000" kx="0" ky="0" algn="bl" rotWithShape="0" blurRad="63500" dist="25400" dir="5400000">
              <a:srgbClr val="3A3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120640" y="3799332"/>
            <a:ext cx="63121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20640" y="4073652"/>
            <a:ext cx="6312103" cy="2338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1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SePay</a:t>
            </a:r>
            <a:endParaRPr lang="en-US" sz="121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16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đối soát chuyển khoản ngân hàng tại Việt Nam, xác nhận qua webhook và dò quét dự phòng.</a:t>
            </a:r>
            <a:endParaRPr lang="en-US" sz="121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1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VietQR</a:t>
            </a:r>
            <a:endParaRPr lang="en-US" sz="121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16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mã QR chuyển khoản động, đúng số tiền và đúng tài khoản người nhận.</a:t>
            </a:r>
            <a:endParaRPr lang="en-US" sz="121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1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Sổ cái NovaTokenLedger (PostgreSQL)</a:t>
            </a:r>
            <a:endParaRPr lang="en-US" sz="121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16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từng biến động số dư, không thể chỉnh sửa ngược.</a:t>
            </a:r>
            <a:endParaRPr lang="en-US" sz="121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3977640" cy="4857293"/>
          </a:xfrm>
          <a:prstGeom prst="roundRect">
            <a:avLst>
              <a:gd name="adj" fmla="val 275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0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874471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779727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hình: Ví NovaToken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Gói thành viên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18008" y="1371600"/>
            <a:ext cx="3566160" cy="48920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2DC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2328" y="16824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2328" y="215798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0023"/>
                </a:solidFill>
              </a:rPr>
              <a:t>0đ</a:t>
            </a:r>
            <a:pPr indent="0" marL="0">
              <a:buNone/>
            </a:pPr>
            <a:r>
              <a:rPr lang="en-US" sz="1200" dirty="0">
                <a:solidFill>
                  <a:srgbClr val="6E6B66"/>
                </a:solidFill>
              </a:rPr>
              <a:t>  /tháng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792328" y="2816352"/>
            <a:ext cx="3017520" cy="0"/>
          </a:xfrm>
          <a:prstGeom prst="line">
            <a:avLst/>
          </a:prstGeom>
          <a:noFill/>
          <a:ln w="9525">
            <a:solidFill>
              <a:srgbClr val="E3E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2328" y="3035808"/>
            <a:ext cx="30175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lượt AI / ngày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tải ảnh gốc sạch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mặc định (không tắt được)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được bán ảnh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được đấu giá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2768" y="1371600"/>
            <a:ext cx="3566160" cy="48920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2DC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87088" y="16824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587088" y="215798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0023"/>
                </a:solidFill>
              </a:rPr>
              <a:t>99.000đ</a:t>
            </a:r>
            <a:pPr indent="0" marL="0">
              <a:buNone/>
            </a:pPr>
            <a:r>
              <a:rPr lang="en-US" sz="1200" dirty="0">
                <a:solidFill>
                  <a:srgbClr val="6E6B66"/>
                </a:solidFill>
              </a:rPr>
              <a:t>  /tháng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4587088" y="2816352"/>
            <a:ext cx="3017520" cy="0"/>
          </a:xfrm>
          <a:prstGeom prst="line">
            <a:avLst/>
          </a:prstGeom>
          <a:noFill/>
          <a:ln w="9525">
            <a:solidFill>
              <a:srgbClr val="E3E2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87088" y="3035808"/>
            <a:ext cx="30175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lượt AI / ngày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ảnh gốc sạch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mẫu watermark riêng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bán ảnh giá cố định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được đấu giá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07528" y="1371600"/>
            <a:ext cx="3566160" cy="4892040"/>
          </a:xfrm>
          <a:prstGeom prst="roundRect">
            <a:avLst>
              <a:gd name="adj" fmla="val 3077"/>
            </a:avLst>
          </a:prstGeom>
          <a:solidFill>
            <a:srgbClr val="221B22"/>
          </a:solidFill>
          <a:ln/>
          <a:effectLst>
            <a:outerShdw sx="100000" sy="100000" kx="0" ky="0" algn="bl" rotWithShape="0" blurRad="76200" dist="25400" dir="5400000">
              <a:srgbClr val="3A3A3A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839048" y="115214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60023"/>
          </a:solidFill>
          <a:ln/>
        </p:spPr>
      </p:sp>
      <p:sp>
        <p:nvSpPr>
          <p:cNvPr id="17" name="Text 14"/>
          <p:cNvSpPr/>
          <p:nvPr/>
        </p:nvSpPr>
        <p:spPr>
          <a:xfrm>
            <a:off x="8839048" y="115214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ĐẦY ĐỦ TÍNH NĂNG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381848" y="16824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381848" y="215798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199.000đ</a:t>
            </a:r>
            <a:pPr indent="0" marL="0">
              <a:buNone/>
            </a:pPr>
            <a:r>
              <a:rPr lang="en-US" sz="1200" dirty="0">
                <a:solidFill>
                  <a:srgbClr val="D6CFD6"/>
                </a:solidFill>
              </a:rPr>
              <a:t>  /tháng</a:t>
            </a:r>
            <a:endParaRPr lang="en-US" sz="2700" dirty="0"/>
          </a:p>
        </p:txBody>
      </p:sp>
      <p:sp>
        <p:nvSpPr>
          <p:cNvPr id="20" name="Shape 17"/>
          <p:cNvSpPr/>
          <p:nvPr/>
        </p:nvSpPr>
        <p:spPr>
          <a:xfrm>
            <a:off x="8381848" y="2816352"/>
            <a:ext cx="3017520" cy="0"/>
          </a:xfrm>
          <a:prstGeom prst="line">
            <a:avLst/>
          </a:prstGeom>
          <a:noFill/>
          <a:ln w="9525">
            <a:solidFill>
              <a:srgbClr val="4A40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81848" y="3035808"/>
            <a:ext cx="30175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giới hạn AI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ảnh gốc sạch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đa 20 mẫu watermark nâng cao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bán ảnh giá cố định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đấu giá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user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người dùng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6824167" cy="2197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công khai: theo dõi ngay lập tức, không cần chờ duyệt.</a:t>
            </a:r>
            <a:endParaRPr lang="en-US" sz="1450" dirty="0"/>
          </a:p>
          <a:p>
            <a:pPr marL="254000" indent="-2540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riêng tư: mọi yêu cầu theo dõi phải được chủ tài khoản chấp nhận trước.</a:t>
            </a:r>
            <a:endParaRPr lang="en-US" sz="1450" dirty="0"/>
          </a:p>
          <a:p>
            <a:pPr marL="254000" indent="-2540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người theo dõi / đang theo dõi và hộp thư yêu cầu theo dõi cho từng tài khoản.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02920" y="3816096"/>
            <a:ext cx="6824167" cy="1976120"/>
          </a:xfrm>
          <a:prstGeom prst="roundRect">
            <a:avLst>
              <a:gd name="adj" fmla="val 4627"/>
            </a:avLst>
          </a:prstGeom>
          <a:solidFill>
            <a:srgbClr val="F6F6F3"/>
          </a:solidFill>
          <a:ln/>
          <a:effectLst>
            <a:outerShdw sx="100000" sy="100000" kx="0" ky="0" algn="bl" rotWithShape="0" blurRad="63500" dist="25400" dir="5400000">
              <a:srgbClr val="3A3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" y="3962400"/>
            <a:ext cx="63121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" y="4236720"/>
            <a:ext cx="6312103" cy="169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Mô hình Follow &amp; FollowRequest (PostgreSQL)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2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biệt theo dõi tức thì và theo dõi cần duyệt.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Cơ chế duyệt kiểu Instagram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20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chấp nhận / từ chối yêu cầu, có thể thu hồi bất kỳ lúc nào.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11135" y="1417320"/>
            <a:ext cx="3977640" cy="4374896"/>
          </a:xfrm>
          <a:prstGeom prst="roundRect">
            <a:avLst>
              <a:gd name="adj" fmla="val 275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0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2691160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85455" y="3596416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hình: Trang hồ sơ &amp; theo dõi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Nhắn tin trực tuyến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864608" y="1417320"/>
            <a:ext cx="6824167" cy="21343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Nhắn tin 1-1 giữa hai người dùng, tin nhắn cập nhật theo thời gian thực.</a:t>
            </a:r>
            <a:endParaRPr lang="en-US" sz="1425" dirty="0"/>
          </a:p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lạ (chưa theo dõi lẫn nhau) phải gửi "lời mời nhắn tin" trước; người nhận có thể chấp nhận, từ chối hoặc báo cáo.</a:t>
            </a:r>
            <a:endParaRPr lang="en-US" sz="1425" dirty="0"/>
          </a:p>
          <a:p>
            <a:pPr marL="254000" indent="-254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25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Tôn trọng trạng thái chặn: hai người đã chặn nhau sẽ không thể nhắn tin hay gửi lời mời.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4864608" y="3734562"/>
            <a:ext cx="6824167" cy="2485339"/>
          </a:xfrm>
          <a:prstGeom prst="roundRect">
            <a:avLst>
              <a:gd name="adj" fmla="val 3679"/>
            </a:avLst>
          </a:prstGeom>
          <a:solidFill>
            <a:srgbClr val="F6F6F3"/>
          </a:solidFill>
          <a:ln/>
          <a:effectLst>
            <a:outerShdw sx="100000" sy="100000" kx="0" ky="0" algn="bl" rotWithShape="0" blurRad="63500" dist="25400" dir="5400000">
              <a:srgbClr val="3A3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120640" y="3880866"/>
            <a:ext cx="63121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E60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20640" y="4155186"/>
            <a:ext cx="6312103" cy="22018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Supabase Realtime (Broadcast)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đẩy tin nhắn và lời mời nhắn tin tức thời tới người nhận đang online.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Polling dự phòng mỗi 5 giây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tin nhắn vẫn đến nếu kết nối realtime bị gián đoạn.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30" b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Mô hình Conversation &amp; MessageRequest</a:t>
            </a: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8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tạo trùng cuộc trò chuyện, quản lý trạng thái lời mời.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3977640" cy="4802581"/>
          </a:xfrm>
          <a:prstGeom prst="roundRect">
            <a:avLst>
              <a:gd name="adj" fmla="val 275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0" name="Image 1" descr="/home/claude/novaframe_deck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853681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758937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hình: Hộp thoại nhắn tin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book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sưu tập, Thông báo &amp; An toàn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438912" cy="438912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6" name="Image 1" descr="/home/claude/novaframe_deck/icons/book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59" y="1522659"/>
            <a:ext cx="228234" cy="2282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39903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sưu tập (Boards)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097280" y="1837944"/>
            <a:ext cx="6309360" cy="1101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bộ sưu tập để sắp xếp ảnh theo chủ đề, kể cả bộ sưu tập bí mật chỉ mình mình xem.</a:t>
            </a:r>
            <a:endParaRPr lang="en-US" sz="12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lưu ảnh của người khác vào bộ sưu tập của mình.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02920" y="2990088"/>
            <a:ext cx="438912" cy="438912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10" name="Image 2" descr="/home/claude/novaframe_deck/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59" y="3095427"/>
            <a:ext cx="228234" cy="2282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97180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báo (Notifications)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097280" y="3410712"/>
            <a:ext cx="6309360" cy="131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tức thời khi có lượt thích, bình luận, theo dõi, đặt giá đấu giá mới...</a:t>
            </a:r>
            <a:endParaRPr lang="en-US" sz="12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Đẩy trực tiếp qua Supabase Realtime, kèm lịch sử và số lượng chưa đọc.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2920" y="4562856"/>
            <a:ext cx="438912" cy="438912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14" name="Image 3" descr="/home/claude/novaframe_deck/icons/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59" y="4668195"/>
            <a:ext cx="228234" cy="22823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454456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Chặn &amp; Báo cáo (Block &amp; Report)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1097280" y="4983480"/>
            <a:ext cx="6309360" cy="1101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2 chiều: ẩn nội dung và khoá nhắn tin với người bị chặn.</a:t>
            </a:r>
            <a:endParaRPr lang="en-US" sz="1250" dirty="0"/>
          </a:p>
          <a:p>
            <a:pPr marL="254000" indent="-2540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theo 6 lý do cụ thể: spam, quấy rối, thù ghét, giả mạo, nội dung không phù hợp, khác.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726680" y="1417320"/>
            <a:ext cx="3962095" cy="4709160"/>
          </a:xfrm>
          <a:prstGeom prst="roundRect">
            <a:avLst>
              <a:gd name="adj" fmla="val 2769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18" name="Image 4" descr="/home/claude/novaframe_deck/icons/im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9108" y="2818181"/>
            <a:ext cx="777240" cy="7772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001000" y="3723437"/>
            <a:ext cx="34134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hình: Bộ sưu tập / Thông báo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" name="Image 0" descr="/home/claude/novaframe_deck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16" y="4297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tính năng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1773936"/>
            <a:ext cx="402336" cy="402336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7" name="Image 1" descr="/home/claude/novaframe_deck/icons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73" y="1870497"/>
            <a:ext cx="209215" cy="2092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1288" y="155448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340532" y="146304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10" name="Shape 6"/>
          <p:cNvSpPr/>
          <p:nvPr/>
        </p:nvSpPr>
        <p:spPr>
          <a:xfrm>
            <a:off x="3505124" y="1773936"/>
            <a:ext cx="402336" cy="402336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11" name="Image 2" descr="/home/claude/novaframe_deck/icons/log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684" y="1870497"/>
            <a:ext cx="209215" cy="2092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98900" y="155448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Google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178144" y="146304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14" name="Shape 9"/>
          <p:cNvSpPr/>
          <p:nvPr/>
        </p:nvSpPr>
        <p:spPr>
          <a:xfrm>
            <a:off x="6342736" y="1773936"/>
            <a:ext cx="402336" cy="402336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15" name="Image 3" descr="/home/claude/novaframe_deck/icons/layou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296" y="1870497"/>
            <a:ext cx="209215" cy="2092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36512" y="155448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Sáng/Tối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9015755" y="146304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18" name="Shape 12"/>
          <p:cNvSpPr/>
          <p:nvPr/>
        </p:nvSpPr>
        <p:spPr>
          <a:xfrm>
            <a:off x="9180347" y="1773936"/>
            <a:ext cx="402336" cy="402336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19" name="Image 4" descr="/home/claude/novaframe_deck/icons/uplo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908" y="1870497"/>
            <a:ext cx="209215" cy="20921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74123" y="155448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tải ảnh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02920" y="265176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22" name="Shape 15"/>
          <p:cNvSpPr/>
          <p:nvPr/>
        </p:nvSpPr>
        <p:spPr>
          <a:xfrm>
            <a:off x="667512" y="2962656"/>
            <a:ext cx="402336" cy="402336"/>
          </a:xfrm>
          <a:prstGeom prst="ellipse">
            <a:avLst/>
          </a:prstGeom>
          <a:solidFill>
            <a:srgbClr val="7E238B"/>
          </a:solidFill>
          <a:ln/>
        </p:spPr>
      </p:sp>
      <p:pic>
        <p:nvPicPr>
          <p:cNvPr id="23" name="Image 5" descr="/home/claude/novaframe_deck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073" y="3059217"/>
            <a:ext cx="209215" cy="20921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61288" y="274320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duyệt 18+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3340532" y="265176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26" name="Shape 18"/>
          <p:cNvSpPr/>
          <p:nvPr/>
        </p:nvSpPr>
        <p:spPr>
          <a:xfrm>
            <a:off x="3505124" y="2962656"/>
            <a:ext cx="402336" cy="402336"/>
          </a:xfrm>
          <a:prstGeom prst="ellipse">
            <a:avLst/>
          </a:prstGeom>
          <a:solidFill>
            <a:srgbClr val="7E238B"/>
          </a:solidFill>
          <a:ln/>
        </p:spPr>
      </p:sp>
      <p:pic>
        <p:nvPicPr>
          <p:cNvPr id="27" name="Image 6" descr="/home/claude/novaframe_deck/icons/cp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1684" y="3059217"/>
            <a:ext cx="209215" cy="20921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998900" y="274320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tạo ảnh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6178144" y="265176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30" name="Shape 21"/>
          <p:cNvSpPr/>
          <p:nvPr/>
        </p:nvSpPr>
        <p:spPr>
          <a:xfrm>
            <a:off x="6342736" y="2962656"/>
            <a:ext cx="402336" cy="402336"/>
          </a:xfrm>
          <a:prstGeom prst="ellipse">
            <a:avLst/>
          </a:prstGeom>
          <a:solidFill>
            <a:srgbClr val="7E238B"/>
          </a:solidFill>
          <a:ln/>
        </p:spPr>
      </p:sp>
      <p:pic>
        <p:nvPicPr>
          <p:cNvPr id="31" name="Image 7" descr="/home/claude/novaframe_deck/icons/scisso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9296" y="3059217"/>
            <a:ext cx="209215" cy="20921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836512" y="274320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tách nền &amp; Collage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9015755" y="265176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34" name="Shape 24"/>
          <p:cNvSpPr/>
          <p:nvPr/>
        </p:nvSpPr>
        <p:spPr>
          <a:xfrm>
            <a:off x="9180347" y="2962656"/>
            <a:ext cx="402336" cy="402336"/>
          </a:xfrm>
          <a:prstGeom prst="ellipse">
            <a:avLst/>
          </a:prstGeom>
          <a:solidFill>
            <a:srgbClr val="7E238B"/>
          </a:solidFill>
          <a:ln/>
        </p:spPr>
      </p:sp>
      <p:pic>
        <p:nvPicPr>
          <p:cNvPr id="35" name="Image 8" descr="/home/claude/novaframe_deck/icons/searc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6908" y="3059217"/>
            <a:ext cx="209215" cy="20921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674123" y="274320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bằng ảnh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502920" y="384048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38" name="Shape 27"/>
          <p:cNvSpPr/>
          <p:nvPr/>
        </p:nvSpPr>
        <p:spPr>
          <a:xfrm>
            <a:off x="667512" y="4151376"/>
            <a:ext cx="402336" cy="402336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39" name="Image 9" descr="/home/claude/novaframe_deck/icons/drople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073" y="4247937"/>
            <a:ext cx="209215" cy="209215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161288" y="393192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bảo vệ</a:t>
            </a:r>
            <a:endParaRPr lang="en-US" sz="1150" dirty="0"/>
          </a:p>
        </p:txBody>
      </p:sp>
      <p:sp>
        <p:nvSpPr>
          <p:cNvPr id="41" name="Shape 29"/>
          <p:cNvSpPr/>
          <p:nvPr/>
        </p:nvSpPr>
        <p:spPr>
          <a:xfrm>
            <a:off x="3340532" y="384048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42" name="Shape 30"/>
          <p:cNvSpPr/>
          <p:nvPr/>
        </p:nvSpPr>
        <p:spPr>
          <a:xfrm>
            <a:off x="3505124" y="4151376"/>
            <a:ext cx="402336" cy="402336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43" name="Image 10" descr="/home/claude/novaframe_deck/icons/ba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1684" y="4247937"/>
            <a:ext cx="209215" cy="20921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3998900" y="393192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bán trực tiếp</a:t>
            </a:r>
            <a:endParaRPr lang="en-US" sz="1150" dirty="0"/>
          </a:p>
        </p:txBody>
      </p:sp>
      <p:sp>
        <p:nvSpPr>
          <p:cNvPr id="45" name="Shape 32"/>
          <p:cNvSpPr/>
          <p:nvPr/>
        </p:nvSpPr>
        <p:spPr>
          <a:xfrm>
            <a:off x="6178144" y="384048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46" name="Shape 33"/>
          <p:cNvSpPr/>
          <p:nvPr/>
        </p:nvSpPr>
        <p:spPr>
          <a:xfrm>
            <a:off x="6342736" y="4151376"/>
            <a:ext cx="402336" cy="402336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47" name="Image 11" descr="/home/claude/novaframe_deck/icons/gave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9296" y="4247937"/>
            <a:ext cx="209215" cy="209215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6836512" y="393192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Đấu giá</a:t>
            </a:r>
            <a:endParaRPr lang="en-US" sz="1150" dirty="0"/>
          </a:p>
        </p:txBody>
      </p:sp>
      <p:sp>
        <p:nvSpPr>
          <p:cNvPr id="49" name="Shape 35"/>
          <p:cNvSpPr/>
          <p:nvPr/>
        </p:nvSpPr>
        <p:spPr>
          <a:xfrm>
            <a:off x="9015755" y="384048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50" name="Shape 36"/>
          <p:cNvSpPr/>
          <p:nvPr/>
        </p:nvSpPr>
        <p:spPr>
          <a:xfrm>
            <a:off x="9180347" y="4151376"/>
            <a:ext cx="402336" cy="402336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51" name="Image 12" descr="/home/claude/novaframe_deck/icons/car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76908" y="4247937"/>
            <a:ext cx="209215" cy="209215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9674123" y="393192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NovaToken</a:t>
            </a:r>
            <a:endParaRPr lang="en-US" sz="1150" dirty="0"/>
          </a:p>
        </p:txBody>
      </p:sp>
      <p:sp>
        <p:nvSpPr>
          <p:cNvPr id="53" name="Shape 38"/>
          <p:cNvSpPr/>
          <p:nvPr/>
        </p:nvSpPr>
        <p:spPr>
          <a:xfrm>
            <a:off x="502920" y="502920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54" name="Shape 39"/>
          <p:cNvSpPr/>
          <p:nvPr/>
        </p:nvSpPr>
        <p:spPr>
          <a:xfrm>
            <a:off x="667512" y="5340096"/>
            <a:ext cx="402336" cy="402336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55" name="Image 13" descr="/home/claude/novaframe_deck/icons/awar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4073" y="5436657"/>
            <a:ext cx="209215" cy="209215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1161288" y="512064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thành viên</a:t>
            </a:r>
            <a:endParaRPr lang="en-US" sz="1150" dirty="0"/>
          </a:p>
        </p:txBody>
      </p:sp>
      <p:sp>
        <p:nvSpPr>
          <p:cNvPr id="57" name="Shape 41"/>
          <p:cNvSpPr/>
          <p:nvPr/>
        </p:nvSpPr>
        <p:spPr>
          <a:xfrm>
            <a:off x="3340532" y="502920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58" name="Shape 42"/>
          <p:cNvSpPr/>
          <p:nvPr/>
        </p:nvSpPr>
        <p:spPr>
          <a:xfrm>
            <a:off x="3505124" y="5340096"/>
            <a:ext cx="402336" cy="402336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59" name="Image 14" descr="/home/claude/novaframe_deck/icons/userplus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1684" y="5436657"/>
            <a:ext cx="209215" cy="209215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3998900" y="512064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</a:t>
            </a:r>
            <a:endParaRPr lang="en-US" sz="1150" dirty="0"/>
          </a:p>
        </p:txBody>
      </p:sp>
      <p:sp>
        <p:nvSpPr>
          <p:cNvPr id="61" name="Shape 44"/>
          <p:cNvSpPr/>
          <p:nvPr/>
        </p:nvSpPr>
        <p:spPr>
          <a:xfrm>
            <a:off x="6178144" y="502920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62" name="Shape 45"/>
          <p:cNvSpPr/>
          <p:nvPr/>
        </p:nvSpPr>
        <p:spPr>
          <a:xfrm>
            <a:off x="6342736" y="5340096"/>
            <a:ext cx="402336" cy="402336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63" name="Image 15" descr="/home/claude/novaframe_deck/icons/chat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9296" y="5436657"/>
            <a:ext cx="209215" cy="209215"/>
          </a:xfrm>
          <a:prstGeom prst="rect">
            <a:avLst/>
          </a:prstGeom>
        </p:spPr>
      </p:pic>
      <p:sp>
        <p:nvSpPr>
          <p:cNvPr id="64" name="Text 46"/>
          <p:cNvSpPr/>
          <p:nvPr/>
        </p:nvSpPr>
        <p:spPr>
          <a:xfrm>
            <a:off x="6836512" y="512064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Nhắn tin</a:t>
            </a:r>
            <a:endParaRPr lang="en-US" sz="1150" dirty="0"/>
          </a:p>
        </p:txBody>
      </p:sp>
      <p:sp>
        <p:nvSpPr>
          <p:cNvPr id="65" name="Shape 47"/>
          <p:cNvSpPr/>
          <p:nvPr/>
        </p:nvSpPr>
        <p:spPr>
          <a:xfrm>
            <a:off x="9015755" y="5029200"/>
            <a:ext cx="2673020" cy="1024128"/>
          </a:xfrm>
          <a:prstGeom prst="roundRect">
            <a:avLst>
              <a:gd name="adj" fmla="val 8929"/>
            </a:avLst>
          </a:prstGeom>
          <a:solidFill>
            <a:srgbClr val="F6F6F3"/>
          </a:solidFill>
          <a:ln/>
        </p:spPr>
      </p:sp>
      <p:sp>
        <p:nvSpPr>
          <p:cNvPr id="66" name="Shape 48"/>
          <p:cNvSpPr/>
          <p:nvPr/>
        </p:nvSpPr>
        <p:spPr>
          <a:xfrm>
            <a:off x="9180347" y="5340096"/>
            <a:ext cx="402336" cy="402336"/>
          </a:xfrm>
          <a:prstGeom prst="ellipse">
            <a:avLst/>
          </a:prstGeom>
          <a:solidFill>
            <a:srgbClr val="E60023"/>
          </a:solidFill>
          <a:ln/>
        </p:spPr>
      </p:sp>
      <p:pic>
        <p:nvPicPr>
          <p:cNvPr id="67" name="Image 16" descr="/home/claude/novaframe_deck/icons/bookmark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76908" y="5436657"/>
            <a:ext cx="209215" cy="209215"/>
          </a:xfrm>
          <a:prstGeom prst="rect">
            <a:avLst/>
          </a:prstGeom>
        </p:spPr>
      </p:pic>
      <p:sp>
        <p:nvSpPr>
          <p:cNvPr id="68" name="Text 49"/>
          <p:cNvSpPr/>
          <p:nvPr/>
        </p:nvSpPr>
        <p:spPr>
          <a:xfrm>
            <a:off x="9674123" y="5120640"/>
            <a:ext cx="18500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sưu tập &amp; Thông báo</a:t>
            </a:r>
            <a:endParaRPr lang="en-US" sz="1150" dirty="0"/>
          </a:p>
        </p:txBody>
      </p:sp>
      <p:sp>
        <p:nvSpPr>
          <p:cNvPr id="69" name="Text 50"/>
          <p:cNvSpPr/>
          <p:nvPr/>
        </p:nvSpPr>
        <p:spPr>
          <a:xfrm>
            <a:off x="5029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</a:t>
            </a:r>
            <a:endParaRPr lang="en-US" sz="900" dirty="0"/>
          </a:p>
        </p:txBody>
      </p:sp>
      <p:sp>
        <p:nvSpPr>
          <p:cNvPr id="70" name="Text 51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2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đã lắng nghe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&amp; Thảo luận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678528" y="4160520"/>
            <a:ext cx="2834640" cy="1737360"/>
          </a:xfrm>
          <a:prstGeom prst="roundRect">
            <a:avLst>
              <a:gd name="adj" fmla="val 6316"/>
            </a:avLst>
          </a:prstGeom>
          <a:solidFill>
            <a:srgbClr val="F1F1EE"/>
          </a:solidFill>
          <a:ln w="15875">
            <a:solidFill>
              <a:srgbClr val="C9C9C2"/>
            </a:solidFill>
            <a:prstDash val="dash"/>
          </a:ln>
        </p:spPr>
      </p:sp>
      <p:pic>
        <p:nvPicPr>
          <p:cNvPr id="5" name="Image 0" descr="/home/claude/novaframe_deck/icon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112" y="4646981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52848" y="5122469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kết demo / mã QR (nếu có)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novaFrame  · 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novaFrame - Bao cao du an</dc:title>
  <dc:subject>PptxGenJS Presentation</dc:subject>
  <dc:creator>novaFrame</dc:creator>
  <cp:lastModifiedBy>novaFrame</cp:lastModifiedBy>
  <cp:revision>1</cp:revision>
  <dcterms:created xsi:type="dcterms:W3CDTF">2026-08-27T06:49:00Z</dcterms:created>
  <dcterms:modified xsi:type="dcterms:W3CDTF">2026-08-27T06:49:00Z</dcterms:modified>
</cp:coreProperties>
</file>